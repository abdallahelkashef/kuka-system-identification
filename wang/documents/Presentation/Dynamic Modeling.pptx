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63" r:id="rId5"/>
    <p:sldId id="262" r:id="rId6"/>
    <p:sldId id="264" r:id="rId7"/>
    <p:sldId id="265" r:id="rId8"/>
    <p:sldId id="267" r:id="rId9"/>
    <p:sldId id="268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E4D1-9937-CEAC-9B39-7D179C342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27A5B-73B6-C36C-B275-BD15A13CC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D5FA-DB5F-074A-C9F8-0B8120A7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11030-8BA5-7B2C-4AF3-D084324C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87081-5F1C-B1C9-5F0E-0D47C61A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7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BA0B-71F4-BD9C-6A3A-456F25298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3B80E-49E1-B10F-FE3B-CF314875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20D9-8D44-0D53-E139-02B63473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B0B6C-D69E-CE8F-9DC5-3C1F5F1F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3811A-7D53-4AC2-7263-61811BE0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7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71864-20D0-7B7D-ACB7-52B29D91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0D1E1-5CD1-B1C1-BB2D-11B2A9F67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41A5-9757-44B8-741E-67346E7B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C69A-2D47-FE41-7106-F596AF1B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6F9D9-5137-4044-4C11-6244C460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1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3E84-F5B3-42D9-19E1-DC1BE054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82C6-CCF1-03F4-5BFE-B66408A32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6EA18-1426-1967-CB66-6BC1543CD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0F078-24E6-B162-EF51-23568EE1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DD243-15FE-9D51-548C-C7BA2E41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12319-39F9-A4ED-1893-2AACD6D7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8114-F1A6-CA45-0348-D51498DC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C7C9F-F885-6F61-B0CF-31838EA3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1B912-DCEF-D66A-A43F-6F2870CD6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5FD67-3AAE-388D-D19D-CC82B5F7A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320E4-73E5-720B-182B-4D26BE44B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F17CF-5C8D-B1C8-B4D1-19CED9FA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81455-F15A-CC16-8AB7-50702EE1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F3689-B35B-1BEC-34EF-8F99CF71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0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BEC9-5428-3990-5638-113F0443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9F90F-8A48-D07D-CE0E-AB31A6B6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EBBF1-5B24-0E30-69A9-97B01335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1D2BC-4833-B1D7-655A-240AA673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4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14B18-FC62-CCCE-7658-6E00AAD2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95AA82-5F21-1242-E042-6EE868EE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85C26-7D80-8A41-A980-03D573FE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7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CAF8-D912-38FF-9272-5B762E79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0339-F12D-99A2-CE50-8AF49E36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76562-EB00-8754-C900-D519B132B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BD21A-92E3-4802-3AD9-17A7DF4D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B7122-3D74-6DA1-99C4-80DE7E6D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8D14E-BACF-611C-0E31-207884F8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6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8D83-CC78-41F1-124D-740F37FA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A5CA7-D29E-4B5A-CECE-AFA935BCC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0DA46-60AE-C2DB-44D7-B3D2919BD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54CD2-90E1-4F0F-5C0C-4F938497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AC024-EAB6-87CA-490A-5C5E8E4D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647F6-ABB0-D0A4-9B4C-1D93FFC0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01FB-5620-AB9B-87CA-AB717371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230E2-1E6F-512D-E164-A8070619D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64952-46A3-2841-158F-38003AB8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E157-E030-9F97-FD99-8BB8F07A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2C2A8-CE24-9652-F516-1715C6BE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9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78BF1-A25C-896F-A247-1BB59FC81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355D9-7A96-E835-0819-3068F0D29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8C9B7-F2E7-43A1-CFFC-79EC4F62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606FA-AFEE-5FF6-5696-72AD9159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5D3C-E6D9-20BC-6765-E6B86704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8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F0797-EC44-59C9-B251-9425BD9D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B1592-3D2C-502C-85C7-9DFFC0D97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FF5F-AE0F-EC35-49B8-AEFC2D2D9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7FDB4-E7CE-4056-9317-4B3A6F3120C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2438E-3C6B-03AE-9570-170D97D6A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7424-DB80-EFD5-715C-DEDC2AF10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BCA42-9C62-4F77-BFAB-6036408D1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5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CA4C-772F-9400-E1B9-760B332D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Modeling and Friction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7A77-796C-D077-7C4C-E195AEC0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Introduce the mathematical foundation of the robot's physical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83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5723-ECA1-FD41-FAF9-C5F56819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Modeling and Friction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C2448F-3FCD-E390-1B21-E0D5B0306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532" y="2645010"/>
            <a:ext cx="7467501" cy="34076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0CAC90-F2CD-89B7-8F53-0C50999893B6}"/>
              </a:ext>
            </a:extLst>
          </p:cNvPr>
          <p:cNvSpPr txBox="1"/>
          <p:nvPr/>
        </p:nvSpPr>
        <p:spPr>
          <a:xfrm>
            <a:off x="1423764" y="1810388"/>
            <a:ext cx="5069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parameters to be determined?</a:t>
            </a:r>
          </a:p>
        </p:txBody>
      </p:sp>
    </p:spTree>
    <p:extLst>
      <p:ext uri="{BB962C8B-B14F-4D97-AF65-F5344CB8AC3E}">
        <p14:creationId xmlns:p14="http://schemas.microsoft.com/office/powerpoint/2010/main" val="197792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364C5-992F-0391-AFA2-5E8625BD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MuJoCo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DA00CA-EFEE-CBF1-BE9A-292296416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442" y="1690688"/>
            <a:ext cx="6508598" cy="4062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ED9774-5BF3-24C7-DABA-441D61065C5A}"/>
              </a:ext>
            </a:extLst>
          </p:cNvPr>
          <p:cNvSpPr txBox="1"/>
          <p:nvPr/>
        </p:nvSpPr>
        <p:spPr>
          <a:xfrm>
            <a:off x="397365" y="1444644"/>
            <a:ext cx="46594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Pristine Algorithmic Environment: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Traditional game-engine simulators prioritize </a:t>
            </a:r>
            <a:r>
              <a:rPr lang="en-US" i="1" u="sng" dirty="0"/>
              <a:t>rendering</a:t>
            </a:r>
            <a:r>
              <a:rPr lang="en-US" i="1" dirty="0"/>
              <a:t> speed over </a:t>
            </a:r>
            <a:r>
              <a:rPr lang="en-US" i="1" u="sng" dirty="0"/>
              <a:t>mathematical precision</a:t>
            </a:r>
            <a:r>
              <a:rPr lang="en-US" i="1" dirty="0"/>
              <a:t>, which inherently introduces numerical "jitter."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 err="1"/>
              <a:t>MuJoCo</a:t>
            </a:r>
            <a:r>
              <a:rPr lang="en-US" i="1" dirty="0"/>
              <a:t>, however, provides exact mechanical states and applied torques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Superior Friction and Contact Mechanics:</a:t>
            </a:r>
          </a:p>
          <a:p>
            <a:endParaRPr lang="en-US" b="1" dirty="0"/>
          </a:p>
          <a:p>
            <a:r>
              <a:rPr lang="en-US" i="1" dirty="0" err="1"/>
              <a:t>MuJoCo</a:t>
            </a:r>
            <a:r>
              <a:rPr lang="en-US" i="1" dirty="0"/>
              <a:t> natively enforces strict physical constraints and allows for the explicit, precise definition of non-linear joint resistances</a:t>
            </a:r>
          </a:p>
        </p:txBody>
      </p:sp>
    </p:spTree>
    <p:extLst>
      <p:ext uri="{BB962C8B-B14F-4D97-AF65-F5344CB8AC3E}">
        <p14:creationId xmlns:p14="http://schemas.microsoft.com/office/powerpoint/2010/main" val="184304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DCB0-2920-B0F4-0D2D-FA9F0087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4CB54-5400-C92F-1B4E-B72F1DFC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MuJoCo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E76EC9-BC2B-8760-A7E3-FD6596427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442" y="1690688"/>
            <a:ext cx="6508598" cy="4062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5F7394-D574-8C06-6D79-B0D12FD6E62F}"/>
              </a:ext>
            </a:extLst>
          </p:cNvPr>
          <p:cNvSpPr txBox="1"/>
          <p:nvPr/>
        </p:nvSpPr>
        <p:spPr>
          <a:xfrm>
            <a:off x="483282" y="2429259"/>
            <a:ext cx="46594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the environment was made as </a:t>
            </a:r>
            <a:r>
              <a:rPr lang="en-US" b="1" u="sng" dirty="0"/>
              <a:t>realistic</a:t>
            </a:r>
            <a:r>
              <a:rPr lang="en-US" b="1" dirty="0"/>
              <a:t> as possible?</a:t>
            </a:r>
          </a:p>
          <a:p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injected viscous damping (damping="5.0") and Coulomb friction (</a:t>
            </a:r>
            <a:r>
              <a:rPr lang="en-US" dirty="0" err="1"/>
              <a:t>frictionloss</a:t>
            </a:r>
            <a:r>
              <a:rPr lang="en-US" dirty="0"/>
              <a:t>="5.0") into the massive base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scaling them down proportionally to 0.1 for the ultra-light distal joints.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2724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FFFC8-ACCC-1053-0DC1-3FBECD48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Pinocchio is a highly specialized, open-source C++ library (with robust Python bindings) dedicated to rigid multi-body dynamics.</a:t>
            </a:r>
          </a:p>
          <a:p>
            <a:endParaRPr lang="en-US" dirty="0"/>
          </a:p>
          <a:p>
            <a:r>
              <a:rPr lang="en-US" dirty="0"/>
              <a:t>An engine that rapidly calculates the robot's kinematics and dynamics.</a:t>
            </a:r>
          </a:p>
          <a:p>
            <a:endParaRPr lang="en-US" dirty="0"/>
          </a:p>
          <a:p>
            <a:r>
              <a:rPr lang="en-US" dirty="0"/>
              <a:t>built upon the foundational mathematical framework of Roy Featherstone's Spatial Algebra</a:t>
            </a:r>
          </a:p>
          <a:p>
            <a:endParaRPr lang="en-US" dirty="0"/>
          </a:p>
          <a:p>
            <a:r>
              <a:rPr lang="en-US" dirty="0"/>
              <a:t>Unmatched Computational Speed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6C972-0ECC-1CE2-6159-1D46049D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" t="3035" r="119" b="911"/>
          <a:stretch>
            <a:fillRect/>
          </a:stretch>
        </p:blipFill>
        <p:spPr>
          <a:xfrm>
            <a:off x="926673" y="521637"/>
            <a:ext cx="4762245" cy="100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0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37F7-47DB-A8C3-CD10-8A3751C7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36A3-2DDE-76A3-E97B-5A5AD0DE7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2332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070C0"/>
                </a:solidFill>
              </a:rPr>
              <a:t>Role</a:t>
            </a:r>
          </a:p>
          <a:p>
            <a:r>
              <a:rPr lang="en-US" dirty="0"/>
              <a:t>was utilized specifically to bypass the massive, highly complex symbolic algebra traditionally required to derive robot dynamics.</a:t>
            </a:r>
          </a:p>
          <a:p>
            <a:endParaRPr lang="en-US" dirty="0"/>
          </a:p>
          <a:p>
            <a:r>
              <a:rPr lang="en-US" dirty="0"/>
              <a:t>was used to programmatically evaluate the inverse dynamic identification model at every single time step using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pin.computeJointTorqueRegressor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7FDA6-783A-8FDC-DCF6-B94636976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" t="3035" r="119" b="911"/>
          <a:stretch>
            <a:fillRect/>
          </a:stretch>
        </p:blipFill>
        <p:spPr>
          <a:xfrm>
            <a:off x="926673" y="521637"/>
            <a:ext cx="4762245" cy="10064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C0EA325-FABB-AE5E-B1C2-751FE32A9D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2496163"/>
                <a:ext cx="5941043" cy="30102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The Structural Model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/>
                  <a:t>+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The Instantaneous Kinematics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/>
                  <a:t>=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The Spatial Inertia Regressor Matrix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6×60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observation matrix)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C0EA325-FABB-AE5E-B1C2-751FE32A9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96163"/>
                <a:ext cx="5941043" cy="3010262"/>
              </a:xfrm>
              <a:prstGeom prst="rect">
                <a:avLst/>
              </a:prstGeom>
              <a:blipFill>
                <a:blip r:embed="rId3"/>
                <a:stretch>
                  <a:fillRect l="-1738" t="-4225" r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59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13D4-2B17-5C6B-727E-D5A35CB0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Trajectory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CFAD7-264F-BD50-D892-DAEEE56DB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580"/>
          <a:stretch>
            <a:fillRect/>
          </a:stretch>
        </p:blipFill>
        <p:spPr>
          <a:xfrm>
            <a:off x="2486743" y="2319338"/>
            <a:ext cx="8039356" cy="12009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33CAB-029E-C0FE-4A18-2A3C7E86EB77}"/>
              </a:ext>
            </a:extLst>
          </p:cNvPr>
          <p:cNvSpPr txBox="1"/>
          <p:nvPr/>
        </p:nvSpPr>
        <p:spPr>
          <a:xfrm>
            <a:off x="1055488" y="4246106"/>
            <a:ext cx="73455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Number of Harmonics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70C0"/>
                </a:solidFill>
              </a:rPr>
              <a:t>wf</a:t>
            </a:r>
            <a:r>
              <a:rPr lang="en-US" sz="2800" dirty="0">
                <a:solidFill>
                  <a:srgbClr val="0070C0"/>
                </a:solidFill>
              </a:rPr>
              <a:t> = 2π(2/65) rad/s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continuous trajectory period = 32.5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0930B-EBC2-C6BC-86E9-073D426AA647}"/>
              </a:ext>
            </a:extLst>
          </p:cNvPr>
          <p:cNvSpPr txBox="1"/>
          <p:nvPr/>
        </p:nvSpPr>
        <p:spPr>
          <a:xfrm>
            <a:off x="891182" y="1608947"/>
            <a:ext cx="5273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Finite Fourier Series Trajectories</a:t>
            </a:r>
          </a:p>
        </p:txBody>
      </p:sp>
    </p:spTree>
    <p:extLst>
      <p:ext uri="{BB962C8B-B14F-4D97-AF65-F5344CB8AC3E}">
        <p14:creationId xmlns:p14="http://schemas.microsoft.com/office/powerpoint/2010/main" val="92200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C727-9DAC-79FA-633A-41D55E23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2707-8382-BC98-4219-CF255AD1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Trajectory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65AEB-03A5-7D35-E805-A4089F0B3D67}"/>
              </a:ext>
            </a:extLst>
          </p:cNvPr>
          <p:cNvSpPr txBox="1"/>
          <p:nvPr/>
        </p:nvSpPr>
        <p:spPr>
          <a:xfrm>
            <a:off x="891182" y="1608947"/>
            <a:ext cx="7459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Trajectory Optimization and Constrained Search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4DDBC1-BBB2-3AF0-2D36-25ED8574C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59" y="2146305"/>
            <a:ext cx="9745069" cy="7882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6560E4-BB90-6246-9475-8E5FD07C767F}"/>
              </a:ext>
            </a:extLst>
          </p:cNvPr>
          <p:cNvSpPr txBox="1"/>
          <p:nvPr/>
        </p:nvSpPr>
        <p:spPr>
          <a:xfrm>
            <a:off x="1219858" y="3130928"/>
            <a:ext cx="99172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  <a:latin typeface="Google Sans Text"/>
              </a:rPr>
              <a:t>The Algorithm:</a:t>
            </a:r>
            <a:r>
              <a:rPr lang="en-US" sz="2400" dirty="0">
                <a:effectLst/>
                <a:latin typeface="Google Sans Text"/>
              </a:rPr>
              <a:t> The Sequential Least Squares Programming (SLSQP) </a:t>
            </a:r>
            <a:r>
              <a:rPr lang="en-US" sz="2400">
                <a:effectLst/>
                <a:latin typeface="Google Sans Text"/>
              </a:rPr>
              <a:t>algorithm </a:t>
            </a:r>
            <a:r>
              <a:rPr lang="en-US" sz="2400" b="1">
                <a:effectLst/>
                <a:latin typeface="Google Sans Text"/>
              </a:rPr>
              <a:t>Hard </a:t>
            </a:r>
            <a:r>
              <a:rPr lang="en-US" sz="2400" b="1" dirty="0">
                <a:effectLst/>
                <a:latin typeface="Google Sans Text"/>
              </a:rPr>
              <a:t>Wall Penalties:</a:t>
            </a:r>
            <a:r>
              <a:rPr lang="en-US" sz="2400" dirty="0">
                <a:effectLst/>
                <a:latin typeface="Google Sans Text"/>
              </a:rPr>
              <a:t> Massive mathematical penalties protected the hardware by explicitly preventing base collisions and kinematic saturation.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Google Sans Text"/>
              </a:rPr>
              <a:t>Motion Quality:</a:t>
            </a:r>
            <a:r>
              <a:rPr lang="en-US" sz="2400" dirty="0">
                <a:effectLst/>
                <a:latin typeface="Google Sans Text"/>
              </a:rPr>
              <a:t> The solver actively prevented high-frequency micro-vibrations by demanding wide spatial variance and explicitly rewarding aggressive distal joint velocities. </a:t>
            </a:r>
          </a:p>
        </p:txBody>
      </p:sp>
    </p:spTree>
    <p:extLst>
      <p:ext uri="{BB962C8B-B14F-4D97-AF65-F5344CB8AC3E}">
        <p14:creationId xmlns:p14="http://schemas.microsoft.com/office/powerpoint/2010/main" val="167202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0F45-4611-EF09-4D9E-84E7CE66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F73C-932E-F25D-0C13-47B54052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Trajectory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AE41E-F6A7-97C9-CE29-59C52920C1AD}"/>
              </a:ext>
            </a:extLst>
          </p:cNvPr>
          <p:cNvSpPr txBox="1"/>
          <p:nvPr/>
        </p:nvSpPr>
        <p:spPr>
          <a:xfrm>
            <a:off x="891182" y="1608947"/>
            <a:ext cx="7459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Trajectory Optimization and Constrained Search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8CCBC0-C87E-D587-25C4-F0D30E789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838" y="2643852"/>
            <a:ext cx="7320324" cy="337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8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7A37-AD9D-7639-E436-1CDD24C0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C82BB-E65D-0CE9-DC47-E70B44A5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0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335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Google Sans Text</vt:lpstr>
      <vt:lpstr>Office Theme</vt:lpstr>
      <vt:lpstr>Dynamic Modeling and Friction</vt:lpstr>
      <vt:lpstr>Dynamic Modeling and Friction</vt:lpstr>
      <vt:lpstr>MuJoCo</vt:lpstr>
      <vt:lpstr>MuJoCo</vt:lpstr>
      <vt:lpstr>PowerPoint Presentation</vt:lpstr>
      <vt:lpstr>PowerPoint Presentation</vt:lpstr>
      <vt:lpstr>Excitation Trajectory Design</vt:lpstr>
      <vt:lpstr>Excitation Trajectory Design</vt:lpstr>
      <vt:lpstr>Excitation Trajectory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Amr</dc:creator>
  <cp:lastModifiedBy>Abdullah Amr</cp:lastModifiedBy>
  <cp:revision>1</cp:revision>
  <dcterms:created xsi:type="dcterms:W3CDTF">2026-07-17T11:42:39Z</dcterms:created>
  <dcterms:modified xsi:type="dcterms:W3CDTF">2026-07-17T14:05:38Z</dcterms:modified>
</cp:coreProperties>
</file>